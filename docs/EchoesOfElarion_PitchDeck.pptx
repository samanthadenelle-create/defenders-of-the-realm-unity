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dPt>
            <c:idx val="0"/>
            <c:spPr>
              <a:solidFill>
                <a:srgbClr val="C9A24B"/>
              </a:solidFill>
            </c:spPr>
          </c:dPt>
          <c:dPt>
            <c:idx val="1"/>
            <c:spPr>
              <a:solidFill>
                <a:srgbClr val="E3B54E"/>
              </a:solidFill>
            </c:spPr>
          </c:dPt>
          <c:dPt>
            <c:idx val="2"/>
            <c:spPr>
              <a:solidFill>
                <a:srgbClr val="8A6D2F"/>
              </a:solidFill>
            </c:spPr>
          </c:dPt>
          <c:dPt>
            <c:idx val="3"/>
            <c:spPr>
              <a:solidFill>
                <a:srgbClr val="8D8272"/>
              </a:solidFill>
            </c:spPr>
          </c:dPt>
          <c:dPt>
            <c:idx val="4"/>
            <c:spPr>
              <a:solidFill>
                <a:srgbClr val="544B5E"/>
              </a:solidFill>
            </c:spPr>
          </c:dPt>
          <c:cat>
            <c:strRef>
              <c:f>Sheet1!$A$2:$A$6</c:f>
              <c:strCache>
                <c:ptCount val="5"/>
                <c:pt idx="0">
                  <c:v>MWA + Android dev</c:v>
                </c:pt>
                <c:pt idx="1">
                  <c:v>Device + compliance</c:v>
                </c:pt>
                <c:pt idx="2">
                  <c:v>Art/audio finishing</c:v>
                </c:pt>
                <c:pt idx="3">
                  <c:v>Launch backend</c:v>
                </c:pt>
                <c:pt idx="4">
                  <c:v>Marketing assets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4000</c:v>
                </c:pt>
                <c:pt idx="1">
                  <c:v>2000</c:v>
                </c:pt>
                <c:pt idx="2">
                  <c:v>1500</c:v>
                </c:pt>
                <c:pt idx="3">
                  <c:v>1500</c:v>
                </c:pt>
                <c:pt idx="4">
                  <c:v>1000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E8DCC0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D8272"/>
                </a:solidFill>
                <a:latin typeface="Calibri"/>
              </a:rPr>
              <a:t>DEFENDERS OF THE REALM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9A24B"/>
                </a:solidFill>
                <a:latin typeface="Cambria"/>
              </a:rPr>
              <a:t>Echoes of Elarion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E8DCC0"/>
                </a:solidFill>
                <a:latin typeface="Cambria"/>
              </a:rPr>
              <a:t>“Hold the last light.”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D8272"/>
                </a:solidFill>
                <a:latin typeface="Calibri"/>
              </a:rPr>
              <a:t>A single-hero action RPG with a living idle economy — built for Solana Mobile and the open web.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55267" y="484632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50">
                <a:solidFill>
                  <a:srgbClr val="E8DCC0"/>
                </a:solidFill>
                <a:latin typeface="Calibri"/>
              </a:rPr>
              <a:t>Unity 6 / URP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32707" y="484632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50">
                <a:solidFill>
                  <a:srgbClr val="E8DCC0"/>
                </a:solidFill>
                <a:latin typeface="Calibri"/>
              </a:rPr>
              <a:t>Playable web build —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484632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50">
                <a:solidFill>
                  <a:srgbClr val="E8DCC0"/>
                </a:solidFill>
                <a:latin typeface="Calibri"/>
              </a:rPr>
              <a:t>SKR-native economy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87587" y="484632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50">
                <a:solidFill>
                  <a:srgbClr val="E8DCC0"/>
                </a:solidFill>
                <a:latin typeface="Calibri"/>
              </a:rPr>
              <a:t>DeNelle Studios ·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9A24B"/>
                </a:solidFill>
                <a:latin typeface="Cambria"/>
              </a:rPr>
              <a:t>A proven genre. A crypto-native storefront. No flagship game — yet.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01368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3B54E"/>
                </a:solidFill>
                <a:latin typeface="Cambria"/>
              </a:rPr>
              <a:t>$14B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79192"/>
            <a:ext cx="323697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Idle-RPG market (2025), ~65% mobile, ~10% CAGR — a proven, durable genre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60020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3128" y="1801368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3B54E"/>
                </a:solidFill>
                <a:latin typeface="Cambria"/>
              </a:rPr>
              <a:t>150k+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679192"/>
            <a:ext cx="323697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Seeker devices in 50+ countries — a crypto-native install base with wallets built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60020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0456" y="1801368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3B54E"/>
                </a:solidFill>
                <a:latin typeface="Cambria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679192"/>
            <a:ext cx="323697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dApp Store platform tax vs the 30% app-store cut — the economics finally work for games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1100816" cy="228600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3B54E"/>
                </a:solidFill>
                <a:latin typeface="Calibri"/>
              </a:rPr>
              <a:t>THE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E8DCC0"/>
                </a:solidFill>
                <a:latin typeface="Calibri"/>
              </a:rPr>
              <a:t>Web3 gaming burned its own audience with pay-to-win token farms. Solana Mobile shipped the device, the wallet, and the store — what the catalog needs now is a genuinely fun flagship game.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FD08A"/>
                </a:solidFill>
                <a:latin typeface="Calibri"/>
              </a:rPr>
              <a:t>The winning move isn’t a new behavior. It’s bringing a proven genre, built with integrity, to a storefront starving for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9A24B"/>
                </a:solidFill>
                <a:latin typeface="Cambria"/>
              </a:rPr>
              <a:t>One Knight. One living world. A loop that respects your time.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609344"/>
            <a:ext cx="146304" cy="146304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DCC0"/>
                </a:solidFill>
                <a:latin typeface="Calibri"/>
              </a:rPr>
              <a:t>Control ONE hero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D8272"/>
                </a:solidFill>
                <a:latin typeface="Calibri"/>
              </a:rPr>
              <a:t>Real-time, animation-driven melee — read the wind-up, block, strike. Everything else in the world is autonomous.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146304" cy="146304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05456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DCC0"/>
                </a:solidFill>
                <a:latin typeface="Calibri"/>
              </a:rPr>
              <a:t>Reclaim the world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D8272"/>
                </a:solidFill>
                <a:latin typeface="Calibri"/>
              </a:rPr>
              <a:t>Raid outposts and camps; every victory permanently strengthens the world-tree’s life force.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511296"/>
            <a:ext cx="146304" cy="146304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56432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DCC0"/>
                </a:solidFill>
                <a:latin typeface="Calibri"/>
              </a:rPr>
              <a:t>A living idle economy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D8272"/>
                </a:solidFill>
                <a:latin typeface="Calibri"/>
              </a:rPr>
              <a:t>Echo spirits harvest wood, iron, and grain for you — even while you’re offline.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462272"/>
            <a:ext cx="146304" cy="146304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07408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DCC0"/>
                </a:solidFill>
                <a:latin typeface="Calibri"/>
              </a:rPr>
              <a:t>Design your settlement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D8272"/>
                </a:solidFill>
                <a:latin typeface="Calibri"/>
              </a:rPr>
              <a:t>Place your buildings, defenses, walls, and entrances — then trigger escalating waves to test them (live in the current build).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413248"/>
            <a:ext cx="146304" cy="146304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58384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DCC0"/>
                </a:solidFill>
                <a:latin typeface="Calibri"/>
              </a:rPr>
              <a:t>Ethical monetization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D8272"/>
                </a:solidFill>
                <a:latin typeface="Calibri"/>
              </a:rPr>
              <a:t>Buy time and beauty, never power — enforced as a build gate, not a promise.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0" y="1783080"/>
            <a:ext cx="3474720" cy="3474720"/>
          </a:xfrm>
          <a:prstGeom prst="ellipse">
            <a:avLst/>
          </a:prstGeom>
          <a:noFill/>
          <a:ln w="1905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3136392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D8272"/>
                </a:solidFill>
                <a:latin typeface="Cambria"/>
              </a:rPr>
              <a:t>THE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24B"/>
                </a:solidFill>
                <a:latin typeface="Cambria"/>
              </a:rPr>
              <a:t>WORLD-TREE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307592"/>
            <a:ext cx="1481328" cy="566928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E8DCC0"/>
                </a:solidFill>
                <a:latin typeface="Calibri"/>
              </a:rPr>
              <a:t>EXPLORE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3236976"/>
            <a:ext cx="1481328" cy="566928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E8DCC0"/>
                </a:solidFill>
                <a:latin typeface="Calibri"/>
              </a:rPr>
              <a:t>BATTLE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5148072"/>
            <a:ext cx="1481328" cy="566928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E8DCC0"/>
                </a:solidFill>
                <a:latin typeface="Calibri"/>
              </a:rPr>
              <a:t>RECLAIM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236976"/>
            <a:ext cx="1481328" cy="566928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E8DCC0"/>
                </a:solidFill>
                <a:latin typeface="Calibri"/>
              </a:rPr>
              <a:t>HARVEST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591616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272"/>
                </a:solidFill>
                <a:latin typeface="Calibri"/>
              </a:rPr>
              <a:t>combat feeds the economy — the economy funds the fight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9A24B"/>
                </a:solidFill>
                <a:latin typeface="Cambria"/>
              </a:rPr>
              <a:t>Why now — the channels just went live</a:t>
            </a:r>
          </a:p>
        </p:txBody>
      </p:sp>
      <p:sp>
        <p:nvSpPr>
          <p:cNvPr id="3" name="Chevron 2"/>
          <p:cNvSpPr/>
          <p:nvPr/>
        </p:nvSpPr>
        <p:spPr>
          <a:xfrm>
            <a:off x="548640" y="2011680"/>
            <a:ext cx="2697480" cy="960120"/>
          </a:xfrm>
          <a:prstGeom prst="chevron">
            <a:avLst/>
          </a:prstGeom>
          <a:solidFill>
            <a:srgbClr val="1D1925"/>
          </a:solidFill>
          <a:ln w="1524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13055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D8272"/>
                </a:solidFill>
                <a:latin typeface="Calibri"/>
              </a:rPr>
              <a:t>Aug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108960"/>
            <a:ext cx="240487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DCC0"/>
                </a:solidFill>
                <a:latin typeface="Calibri"/>
              </a:rPr>
              <a:t>Solana Seeker ships — 150k+ devices, Seed Vault on board</a:t>
            </a:r>
          </a:p>
        </p:txBody>
      </p:sp>
      <p:sp>
        <p:nvSpPr>
          <p:cNvPr id="6" name="Chevron 5"/>
          <p:cNvSpPr/>
          <p:nvPr/>
        </p:nvSpPr>
        <p:spPr>
          <a:xfrm>
            <a:off x="3355848" y="2011680"/>
            <a:ext cx="2697480" cy="960120"/>
          </a:xfrm>
          <a:prstGeom prst="chevron">
            <a:avLst/>
          </a:prstGeom>
          <a:solidFill>
            <a:srgbClr val="1D1925"/>
          </a:solidFill>
          <a:ln w="1524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39896" y="213055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D8272"/>
                </a:solidFill>
                <a:latin typeface="Calibri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9896" y="3108960"/>
            <a:ext cx="240487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DCC0"/>
                </a:solidFill>
                <a:latin typeface="Calibri"/>
              </a:rPr>
              <a:t>SKR + the dApp Store economy go live — 100k+ power users</a:t>
            </a:r>
          </a:p>
        </p:txBody>
      </p:sp>
      <p:sp>
        <p:nvSpPr>
          <p:cNvPr id="9" name="Chevron 8"/>
          <p:cNvSpPr/>
          <p:nvPr/>
        </p:nvSpPr>
        <p:spPr>
          <a:xfrm>
            <a:off x="6163056" y="2011680"/>
            <a:ext cx="2697480" cy="960120"/>
          </a:xfrm>
          <a:prstGeom prst="chevron">
            <a:avLst/>
          </a:prstGeom>
          <a:solidFill>
            <a:srgbClr val="241F2D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213055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3B54E"/>
                </a:solidFill>
                <a:latin typeface="Calibri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3108960"/>
            <a:ext cx="240487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DCC0"/>
                </a:solidFill>
                <a:latin typeface="Calibri"/>
              </a:rPr>
              <a:t>OUR WINDOW — V1 polish + the MWA/Android spike</a:t>
            </a:r>
          </a:p>
        </p:txBody>
      </p:sp>
      <p:sp>
        <p:nvSpPr>
          <p:cNvPr id="12" name="Chevron 11"/>
          <p:cNvSpPr/>
          <p:nvPr/>
        </p:nvSpPr>
        <p:spPr>
          <a:xfrm>
            <a:off x="8970264" y="2011680"/>
            <a:ext cx="2697480" cy="960120"/>
          </a:xfrm>
          <a:prstGeom prst="chevron">
            <a:avLst/>
          </a:prstGeom>
          <a:solidFill>
            <a:srgbClr val="241F2D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2" y="213055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FD08A"/>
                </a:solidFill>
                <a:latin typeface="Calibri"/>
              </a:rPr>
              <a:t>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4312" y="3108960"/>
            <a:ext cx="240487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DCC0"/>
                </a:solidFill>
                <a:latin typeface="Calibri"/>
              </a:rPr>
              <a:t>dApp Store listing while the game shelf is still thin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0560"/>
            <a:ext cx="11100816" cy="155448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DCC0"/>
                </a:solidFill>
                <a:latin typeface="Calibri"/>
              </a:rPr>
              <a:t>We don’t need to convince anyone to install a wallet — every Seeker ships with one.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D8272"/>
                </a:solidFill>
                <a:latin typeface="Calibri"/>
              </a:rPr>
              <a:t>We just need to be the rare good game on the shelf while it’s still nearly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9A24B"/>
                </a:solidFill>
                <a:latin typeface="Cambria"/>
              </a:rPr>
              <a:t>Traction: a real game today — playable in your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D8272"/>
                </a:solidFill>
                <a:latin typeface="Calibri"/>
              </a:rPr>
              <a:t>Live preview build updated near-daily · all facts verified from the codebase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FD08A"/>
                </a:solidFill>
                <a:latin typeface="Calibri"/>
              </a:rPr>
              <a:t>BUILT — SHIPPING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•  Real-time single-Knight combat, isolated warp arenas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•  Player-designed settlement — place buildings, defenses; blank-template new game (locked on this week)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•  Damage lifecycle: structures burn, break, cost in-kind repairs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•  Echo idle economy with offline real-clock accrual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•  20-wave escalating defense + endless mode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•  Wallet layer: SOL / USDC / SKR seams + Jupiter swap (testnet)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•  Live WebGL builds — itch.io + Vercel preview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440680" cy="448056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3B54E"/>
                </a:solidFill>
                <a:latin typeface="Calibri"/>
              </a:rPr>
              <a:t>ENGINEERING MATURITY (THE OTHER TRACTION)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•  ~700 tracked work orders across a formal QA→implement→verify pipeline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•  Headless compile + data-regression gates on every change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•  Autonomous bot fleet plays the game in parallel and files ranked bug tickets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•  Versioned save system at schema v30 with forward migration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•  15+ bounded assemblies — crypto compiles out of store builds by construction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•  Solo founder (HP B2B ops) directing an AI-agent dev pipeline with hard gates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9A24B"/>
                </a:solidFill>
                <a:latin typeface="Cambria"/>
              </a:rPr>
              <a:t>How one studio ships AAA-shaped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D8272"/>
                </a:solidFill>
                <a:latin typeface="Calibri"/>
              </a:rPr>
              <a:t>The moat is the production model, not a feature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4B"/>
                </a:solidFill>
                <a:latin typeface="Calibri"/>
              </a:rPr>
              <a:t>ONE MODEL, DATA-DRIVEN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04288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Every combat space is one primitive with swappable data skins (dungeon / outpost / camp). New content = a data entry plus art — near-flat content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4B"/>
                </a:solidFill>
                <a:latin typeface="Calibri"/>
              </a:rPr>
              <a:t>ONE UI FACTORY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04288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Every panel builds from one obsidian master frame; screens drop content into pre-styled zones. A panel can never render blank — art lookups fall back procedurally.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4B"/>
                </a:solidFill>
                <a:latin typeface="Calibri"/>
              </a:rPr>
              <a:t>ONE RIG, RETARGETED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44568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AI-generated (Tripo) models auto-rigged onto a shared humanoid rig with one retargeted mocap library — every new character walks, fights, and dies for free.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8620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114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4B"/>
                </a:solidFill>
                <a:latin typeface="Calibri"/>
              </a:rPr>
              <a:t>GATED AGENT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44568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AI agents implement; headless gates + a bot fleet verify; the owner felt-tests. Quality is enforced by process, not heroics.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9A24B"/>
                </a:solidFill>
                <a:latin typeface="Cambria"/>
              </a:rPr>
              <a:t>Market — an honest funnel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100816" cy="137160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2996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D8272"/>
                </a:solidFill>
                <a:latin typeface="Calibri"/>
              </a:rPr>
              <a:t>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01952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C9A24B"/>
                </a:solidFill>
                <a:latin typeface="Cambria"/>
              </a:rPr>
              <a:t>$13–14B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011680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DCC0"/>
                </a:solidFill>
                <a:latin typeface="Calibri"/>
              </a:rPr>
              <a:t>Idle / casual-RPG mobile gaming (2025), growing ~10% CAGR to $25B+ by 2034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73552"/>
            <a:ext cx="11100816" cy="137160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D8272"/>
                </a:solidFill>
                <a:latin typeface="Calibri"/>
              </a:rPr>
              <a:t>SAM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438144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3B54E"/>
                </a:solidFill>
                <a:latin typeface="Cambria"/>
              </a:rPr>
              <a:t>150k+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547872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DCC0"/>
                </a:solidFill>
                <a:latin typeface="Calibri"/>
              </a:rPr>
              <a:t>Seeker owners + 100k+ dApp Store power users + crypto-curious idle-RPG players — payment-ready, quality-starved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9744"/>
            <a:ext cx="11100816" cy="137160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0235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D8272"/>
                </a:solidFill>
                <a:latin typeface="Calibri"/>
              </a:rPr>
              <a:t>SOM (Y1)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974336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9FD08A"/>
                </a:solidFill>
                <a:latin typeface="Cambria"/>
              </a:rPr>
              <a:t>5–30k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5084064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DCC0"/>
                </a:solidFill>
                <a:latin typeface="Calibri"/>
              </a:rPr>
              <a:t>Engaged players on thin-supply storefronts — a winnable beachhead, not a moonshot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D8272"/>
                </a:solidFill>
                <a:latin typeface="Calibri"/>
              </a:rPr>
              <a:t>Figures are sourced, illustrative ranges — see appendix of the written deck.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9A24B"/>
                </a:solidFill>
                <a:latin typeface="Cambria"/>
              </a:rPr>
              <a:t>A full F2P monetization suite — bound by a covenant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6035040" cy="658368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01368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DCC0"/>
                </a:solidFill>
                <a:latin typeface="Calibri"/>
              </a:rPr>
              <a:t>Resource + boost packs (capped)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95728"/>
            <a:ext cx="6035040" cy="658368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5117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DCC0"/>
                </a:solidFill>
                <a:latin typeface="Calibri"/>
              </a:rPr>
              <a:t>Offline storage tiers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45536"/>
            <a:ext cx="6035040" cy="658368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00984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DCC0"/>
                </a:solidFill>
                <a:latin typeface="Calibri"/>
              </a:rPr>
              <a:t>SKR premium store — cosmetics + prestige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95344"/>
            <a:ext cx="6035040" cy="658368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507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DCC0"/>
                </a:solidFill>
                <a:latin typeface="Calibri"/>
              </a:rPr>
              <a:t>Seasonal battle pass (XP never buyable)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45152"/>
            <a:ext cx="6035040" cy="658368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80060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DCC0"/>
                </a:solidFill>
                <a:latin typeface="Calibri"/>
              </a:rPr>
              <a:t>Monthly card (pool model — missed days never lost)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94960"/>
            <a:ext cx="6035040" cy="658368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50408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8DCC0"/>
                </a:solidFill>
                <a:latin typeface="Calibri"/>
              </a:rPr>
              <a:t>Rewarded ads — opt-in, a path never a wall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45920"/>
            <a:ext cx="4572000" cy="4343400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254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96596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3B54E"/>
                </a:solidFill>
                <a:latin typeface="Cambria"/>
              </a:rPr>
              <a:t>THE COVENANT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60604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E8DCC0"/>
                </a:solidFill>
                <a:latin typeface="Calibri"/>
              </a:rPr>
              <a:t>Buy time and beauty — never power.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E8DCC0"/>
                </a:solidFill>
                <a:latin typeface="Calibri"/>
              </a:rPr>
              <a:t>No combat stats. No higher caps. No pay-to-win. Ever.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FD08A"/>
                </a:solidFill>
                <a:latin typeface="Calibri"/>
              </a:rPr>
              <a:t>Enforced as a build-gate regression: a stat-granting item literally fails the build.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525780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8272"/>
                </a:solidFill>
                <a:latin typeface="Calibri"/>
              </a:rPr>
              <a:t>In a genre defined by pay-to-win distrust, provable fairness is the moat.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9A24B"/>
                </a:solidFill>
                <a:latin typeface="Cambria"/>
              </a:rPr>
              <a:t>SKR — utility designed to be sustainable, not a ponzi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24B"/>
                </a:solidFill>
                <a:latin typeface="Calibri"/>
              </a:rPr>
              <a:t>ACQUIRE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50592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Bought (money / crypto)
Earned by play
On-chain — staged last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68496" y="2651760"/>
            <a:ext cx="457200" cy="457200"/>
          </a:xfrm>
          <a:prstGeom prst="rightArrow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62272" y="173736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36592" y="19659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24B"/>
                </a:solidFill>
                <a:latin typeface="Calibri"/>
              </a:rPr>
              <a:t>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450592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Player balance — no wallet required to play
Capped, bounded staking perks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82128" y="2651760"/>
            <a:ext cx="457200" cy="457200"/>
          </a:xfrm>
          <a:prstGeom prst="rightArrow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75904" y="173736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0224" y="19659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24B"/>
                </a:solidFill>
                <a:latin typeface="Calibri"/>
              </a:rPr>
              <a:t>SPEND (SINK)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0224" y="2450592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Cosmetics · convenience · prestige crowns
Spending removes SKR from circulation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11100816" cy="169164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E8DCC0"/>
                </a:solidFill>
                <a:latin typeface="Calibri"/>
              </a:rPr>
              <a:t>Staged custody: local ledger → cloud → Solana SPL — each stage one swappable seam. V1 ships fully local; the chain comes after the game is proven.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D08A"/>
                </a:solidFill>
                <a:latin typeface="Calibri"/>
              </a:rPr>
              <a:t>Anti-ponzi by design: value comes from spending in a fun game — no forced wallet, no emissions treadmill, no recruitment mechanics.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9A24B"/>
                </a:solidFill>
                <a:latin typeface="Cambria"/>
              </a:rPr>
              <a:t>One codebase. Three storefronts. Phased rollout.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74320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24B"/>
                </a:solidFill>
                <a:latin typeface="Calibri"/>
              </a:rPr>
              <a:t>UNITY BUILD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DCC0"/>
                </a:solidFill>
                <a:latin typeface="Calibri"/>
              </a:rPr>
              <a:t>WebGL + Android from one codebase; crypto seams per channel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103120"/>
            <a:ext cx="640080" cy="411480"/>
          </a:xfrm>
          <a:prstGeom prst="rightArrow">
            <a:avLst/>
          </a:prstGeom>
          <a:solidFill>
            <a:srgbClr val="3A2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1783080"/>
            <a:ext cx="7132320" cy="118872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965960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FD08A"/>
                </a:solidFill>
                <a:latin typeface="Calibri"/>
              </a:rPr>
              <a:t>Open web — LIVE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404872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8272"/>
                </a:solidFill>
                <a:latin typeface="Calibri"/>
              </a:rPr>
              <a:t>itch.io + Vercel builds; the daily proving ground and feedback loop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57600" y="3520440"/>
            <a:ext cx="640080" cy="411480"/>
          </a:xfrm>
          <a:prstGeom prst="rightArrow">
            <a:avLst/>
          </a:prstGeom>
          <a:solidFill>
            <a:srgbClr val="3A2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3200400"/>
            <a:ext cx="7132320" cy="118872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383280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3B54E"/>
                </a:solidFill>
                <a:latin typeface="Calibri"/>
              </a:rPr>
              <a:t>Solana Seeker / dApp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822192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8272"/>
                </a:solidFill>
                <a:latin typeface="Calibri"/>
              </a:rPr>
              <a:t>MWA + Seed Vault · SKR economy · no 30% platform tax — THE GRANT MILESTONE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57600" y="4937760"/>
            <a:ext cx="640080" cy="411480"/>
          </a:xfrm>
          <a:prstGeom prst="rightArrow">
            <a:avLst/>
          </a:prstGeom>
          <a:solidFill>
            <a:srgbClr val="3A2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4617720"/>
            <a:ext cx="7132320" cy="118872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4800600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DCC0"/>
                </a:solidFill>
                <a:latin typeface="Calibri"/>
              </a:rPr>
              <a:t>App stores — later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5239512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8272"/>
                </a:solidFill>
                <a:latin typeface="Calibri"/>
              </a:rPr>
              <a:t>Same codebase; crypto assemblies compile OUT by construction — compliance built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D8272"/>
                </a:solidFill>
                <a:latin typeface="Calibri"/>
              </a:rPr>
              <a:t>Discipline: money never lights up on a rail we haven’t proven. Each phase is gated.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9A24B"/>
                </a:solidFill>
                <a:latin typeface="Cambria"/>
              </a:rPr>
              <a:t>The next 12 weeks — the Solana Mobile milestones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11100816" cy="137160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3B54E"/>
                </a:solidFill>
                <a:latin typeface="Calibri"/>
              </a:rPr>
              <a:t>M1 · WEEKS 1–4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892808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DCC0"/>
                </a:solidFill>
                <a:latin typeface="Calibri"/>
              </a:rPr>
              <a:t>Native Android build + MWA sign-in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35000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8272"/>
                </a:solidFill>
                <a:latin typeface="Calibri"/>
              </a:rPr>
              <a:t>Unity Android hardened · Mobile Wallet Adapter provider behind our existing wallet seam · Seed Vault custody · installable APK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27832"/>
            <a:ext cx="11100816" cy="137160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02152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3B54E"/>
                </a:solidFill>
                <a:latin typeface="Calibri"/>
              </a:rPr>
              <a:t>M2 · WEEKS 5–9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42900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DCC0"/>
                </a:solidFill>
                <a:latin typeface="Calibri"/>
              </a:rPr>
              <a:t>SKR economy live on testnet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88620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8272"/>
                </a:solidFill>
                <a:latin typeface="Calibri"/>
              </a:rPr>
              <a:t>Pack store + crystal SKUs purchasable via MWA · SKR staking perks · offline-economy notifications · end-to-end device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64024"/>
            <a:ext cx="11100816" cy="137160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38344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3B54E"/>
                </a:solidFill>
                <a:latin typeface="Calibri"/>
              </a:rPr>
              <a:t>M3 · WEEKS 10–12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96519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DCC0"/>
                </a:solidFill>
                <a:latin typeface="Calibri"/>
              </a:rPr>
              <a:t>dApp Store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4223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8272"/>
                </a:solidFill>
                <a:latin typeface="Calibri"/>
              </a:rPr>
              <a:t>Store listing + compliance pass · launch build · co-marketing with the Solana Mobile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D08A"/>
                </a:solidFill>
                <a:latin typeface="Calibri"/>
              </a:rPr>
              <a:t>Public good: the Unity ↔ MWA provider ships open-source with docs — the missing on-ramp for game studios.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9A24B"/>
                </a:solidFill>
                <a:latin typeface="Cambria"/>
              </a:rPr>
              <a:t>What’s defensible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355080" y="1737360"/>
            <a:ext cx="4663440" cy="4206240"/>
          </a:xfrm>
          <a:prstGeom prst="rect">
            <a:avLst/>
          </a:prstGeom>
          <a:solidFill>
            <a:srgbClr val="1D1925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686800.0" y="1737360"/>
            <a:ext cx="0.0" cy="4206240"/>
          </a:xfrm>
          <a:prstGeom prst="line">
            <a:avLst/>
          </a:prstGeom>
          <a:ln>
            <a:solidFill>
              <a:srgbClr val="3A2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355080" y="3840480.0"/>
            <a:ext cx="4663440" cy="0.0"/>
          </a:xfrm>
          <a:prstGeom prst="line">
            <a:avLst/>
          </a:prstGeom>
          <a:ln>
            <a:solidFill>
              <a:srgbClr val="3A2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5080" y="13898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272"/>
                </a:solidFill>
                <a:latin typeface="Calibri"/>
              </a:rPr>
              <a:t>FUN-FIRST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601675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272"/>
                </a:solidFill>
                <a:latin typeface="Calibri"/>
              </a:rPr>
              <a:t>EXTRACTIVE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37033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8272"/>
                </a:solidFill>
                <a:latin typeface="Calibri"/>
              </a:rPr>
              <a:t>ONE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37033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D8272"/>
                </a:solidFill>
                <a:latin typeface="Calibri"/>
              </a:rPr>
              <a:t>MULTI-ECO</a:t>
            </a:r>
          </a:p>
        </p:txBody>
      </p:sp>
      <p:sp>
        <p:nvSpPr>
          <p:cNvPr id="10" name="Oval 9"/>
          <p:cNvSpPr/>
          <p:nvPr/>
        </p:nvSpPr>
        <p:spPr>
          <a:xfrm>
            <a:off x="9464040" y="2148840"/>
            <a:ext cx="1051560" cy="1051560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131B"/>
                </a:solidFill>
              </a:rPr>
              <a:t>US</a:t>
            </a:r>
          </a:p>
        </p:txBody>
      </p:sp>
      <p:sp>
        <p:nvSpPr>
          <p:cNvPr id="11" name="Oval 10"/>
          <p:cNvSpPr/>
          <p:nvPr/>
        </p:nvSpPr>
        <p:spPr>
          <a:xfrm>
            <a:off x="6812280" y="4572000"/>
            <a:ext cx="914400" cy="914400"/>
          </a:xfrm>
          <a:prstGeom prst="ellipse">
            <a:avLst/>
          </a:prstGeom>
          <a:solidFill>
            <a:srgbClr val="241F2D"/>
          </a:solidFill>
          <a:ln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8D8272"/>
                </a:solidFill>
              </a:rPr>
              <a:t>typical
web3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24B"/>
                </a:solidFill>
                <a:latin typeface="Calibri"/>
              </a:rPr>
              <a:t>Content engine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validated, difficulty-scaled content generated from data — near-flat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24B"/>
                </a:solidFill>
                <a:latin typeface="Calibri"/>
              </a:rPr>
              <a:t>Trust as a brand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“never power” enforced in CI — provable fairness in a distrustful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24B"/>
                </a:solidFill>
                <a:latin typeface="Calibri"/>
              </a:rPr>
              <a:t>Solana-native reach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one build → Seeker dApp Store + open web; SKR is a first-class currency, not a bolt-on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24B"/>
                </a:solidFill>
                <a:latin typeface="Calibri"/>
              </a:rPr>
              <a:t>Velocity by architecture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features ship as data entries behind bounded seams, not rewrites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9A24B"/>
                </a:solidFill>
                <a:latin typeface="Cambria"/>
              </a:rPr>
              <a:t>The ask — $10K Solana Mobile Builder Grant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645920"/>
          <a:ext cx="51206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26480" y="173736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3B54E"/>
                </a:solidFill>
                <a:latin typeface="Cambria"/>
              </a:rPr>
              <a:t>$4,000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35240" y="1783080"/>
            <a:ext cx="3977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MWA / Seed Vault integration + Android hardening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304288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3B54E"/>
                </a:solidFill>
                <a:latin typeface="Cambria"/>
              </a:rPr>
              <a:t>$2,000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350008"/>
            <a:ext cx="3977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Seeker + test devices, dApp Store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871216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3B54E"/>
                </a:solidFill>
                <a:latin typeface="Cambria"/>
              </a:rPr>
              <a:t>$1,500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16936"/>
            <a:ext cx="3977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Art + audio finishing for the launch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43814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3B54E"/>
                </a:solidFill>
                <a:latin typeface="Cambria"/>
              </a:rPr>
              <a:t>$1,500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483864"/>
            <a:ext cx="3977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Server-side purchase verification + leaderboards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00507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3B54E"/>
                </a:solidFill>
                <a:latin typeface="Cambria"/>
              </a:rPr>
              <a:t>$1,000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050792"/>
            <a:ext cx="3977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Trailer + store creatives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80060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1D1925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834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9A24B"/>
                </a:solidFill>
                <a:latin typeface="Calibri"/>
              </a:rPr>
              <a:t>What Solana Mobile gets: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8DCC0"/>
                </a:solidFill>
                <a:latin typeface="Calibri"/>
              </a:rPr>
              <a:t>a polished flagship-quality game on the dApp Store — and the open-source Unity↔MWA on-ramp for every studio after 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9A24B"/>
                </a:solidFill>
                <a:latin typeface="Cambria"/>
              </a:rPr>
              <a:t>Built with discipline. Shipped with integrity.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880360"/>
            <a:ext cx="9235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DCC0"/>
                </a:solidFill>
                <a:latin typeface="Calibri"/>
              </a:rPr>
              <a:t>A working game, a scalable content engine, and an architecture already shaped for mobile web3 — without betting the game on it. The ask is partnership to light up the storefronts that need exactly this.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D8272"/>
                </a:solidFill>
                <a:latin typeface="Cambria"/>
              </a:rPr>
              <a:t>“Hold the line. Reclaim the world.”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58087" y="5120640"/>
            <a:ext cx="3108960" cy="384048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50">
                <a:solidFill>
                  <a:srgbClr val="E8DCC0"/>
                </a:solidFill>
                <a:latin typeface="Calibri"/>
              </a:rPr>
              <a:t>DeNelle Studios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1367" y="5120640"/>
            <a:ext cx="3108960" cy="384048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50">
                <a:solidFill>
                  <a:srgbClr val="E8DCC0"/>
                </a:solidFill>
                <a:latin typeface="Calibri"/>
              </a:rPr>
              <a:t>Live build: defenders-of-the-realm-v2 (Vercel)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4647" y="5120640"/>
            <a:ext cx="3108960" cy="384048"/>
          </a:xfrm>
          <a:prstGeom prst="roundRect">
            <a:avLst>
              <a:gd name="adj" fmla="val 8000"/>
            </a:avLst>
          </a:prstGeom>
          <a:solidFill>
            <a:srgbClr val="241F2D"/>
          </a:solidFill>
          <a:ln w="12700">
            <a:solidFill>
              <a:srgbClr val="3A2F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50">
                <a:solidFill>
                  <a:srgbClr val="E8DCC0"/>
                </a:solidFill>
                <a:latin typeface="Calibri"/>
              </a:rPr>
              <a:t>Contact: sammie.denelle@hp.com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